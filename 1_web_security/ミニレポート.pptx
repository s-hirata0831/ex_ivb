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762"/>
  </p:normalViewPr>
  <p:slideViewPr>
    <p:cSldViewPr snapToGrid="0" showGuides="1">
      <p:cViewPr varScale="1">
        <p:scale>
          <a:sx n="117" d="100"/>
          <a:sy n="117" d="100"/>
        </p:scale>
        <p:origin x="288"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870CB-78A4-5A62-42E3-E807FEDA33D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40D2B97-CF88-CC07-0882-1DFCB3760D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112EA9B-C3A6-E664-F6E8-42A266B805FB}"/>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5" name="フッター プレースホルダー 4">
            <a:extLst>
              <a:ext uri="{FF2B5EF4-FFF2-40B4-BE49-F238E27FC236}">
                <a16:creationId xmlns:a16="http://schemas.microsoft.com/office/drawing/2014/main" id="{02F983CF-76B7-87E5-5169-94748420CC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86BD87-ED8E-B53D-9AD7-0BABE5AB46E2}"/>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2198505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948FF4-0080-39FE-DB13-EEA00015660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911972A-0800-8C03-F8F6-ADCFFF7270D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CC1A82-2255-B76D-48B4-2247624731F3}"/>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5" name="フッター プレースホルダー 4">
            <a:extLst>
              <a:ext uri="{FF2B5EF4-FFF2-40B4-BE49-F238E27FC236}">
                <a16:creationId xmlns:a16="http://schemas.microsoft.com/office/drawing/2014/main" id="{BB9FC190-EC66-AA2E-BFC4-691FF255B6B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B9AE2F2-E824-68FA-D342-8718C935E6B8}"/>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213555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9C8738-EFB7-5AEA-8324-8577A4C748F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65B9DC2-31FD-01CB-331E-66D0985B14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631321B-44CC-0F73-E21D-2E022D3C8D85}"/>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5" name="フッター プレースホルダー 4">
            <a:extLst>
              <a:ext uri="{FF2B5EF4-FFF2-40B4-BE49-F238E27FC236}">
                <a16:creationId xmlns:a16="http://schemas.microsoft.com/office/drawing/2014/main" id="{A88A599A-F8C3-48DD-94FC-B649DB665F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06D06B-4CDF-43AB-BE4E-23F82A441CBD}"/>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103257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DD4C9E-3E23-1514-D181-EAF0B7CB4C2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705D028-5D0C-7B1D-88EC-5B97B6247F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2D8FE08-FDE0-9559-DE8B-AF3E6FC9A92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6B99BC7-69B6-8A56-3263-2A39ECFB7DD0}"/>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6" name="フッター プレースホルダー 5">
            <a:extLst>
              <a:ext uri="{FF2B5EF4-FFF2-40B4-BE49-F238E27FC236}">
                <a16:creationId xmlns:a16="http://schemas.microsoft.com/office/drawing/2014/main" id="{C1B86BDA-0B43-DBCA-E3C7-5D5CF1818D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0B539F-642B-20F3-951D-FFE2133829F5}"/>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1844062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6C4F52-8A7A-82F4-E032-05FCDA8E322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BD8CFD-01BC-D015-FF21-A3C5AC0615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3AFB0FB-6033-98AC-4119-9E1FFFA0CE5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6CE825D-0B91-83F5-0CED-0013365218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4F45BD4-4426-44E2-6DFE-611555A81F9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F96EF35-7504-72CB-7C62-AFC747B73035}"/>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8" name="フッター プレースホルダー 7">
            <a:extLst>
              <a:ext uri="{FF2B5EF4-FFF2-40B4-BE49-F238E27FC236}">
                <a16:creationId xmlns:a16="http://schemas.microsoft.com/office/drawing/2014/main" id="{B128FEDD-0AD1-34E8-2DB5-62D3A6FD062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42EBAA0-6948-6FFE-3248-61850D1B0429}"/>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3152119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68099C-C951-61C3-402D-50CDC7F849A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C153DAE-F2AB-0596-D6F8-EDFF38C8B038}"/>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4" name="フッター プレースホルダー 3">
            <a:extLst>
              <a:ext uri="{FF2B5EF4-FFF2-40B4-BE49-F238E27FC236}">
                <a16:creationId xmlns:a16="http://schemas.microsoft.com/office/drawing/2014/main" id="{FF2FE28B-3BF8-365C-C1AD-AC761C7BE27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0BE4791-0885-934C-3FCB-8D6080B0A2D6}"/>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33682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2047E56-AB96-F73D-9A6A-5CF4489A4735}"/>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3" name="フッター プレースホルダー 2">
            <a:extLst>
              <a:ext uri="{FF2B5EF4-FFF2-40B4-BE49-F238E27FC236}">
                <a16:creationId xmlns:a16="http://schemas.microsoft.com/office/drawing/2014/main" id="{B03247FB-B896-FA3B-89E0-CA07FCD0A2F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76864FB-707B-54BC-A358-FF348B9A0D67}"/>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681537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A9941C-04A8-1749-6F68-EB2BB00154C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D37FAB-A0F7-699B-9AD7-9EAE52CB4A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1C80CE-076B-971C-6F37-A465F0CAD9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A711554-C1D8-DAE0-5E4C-49ED88C6F1C9}"/>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6" name="フッター プレースホルダー 5">
            <a:extLst>
              <a:ext uri="{FF2B5EF4-FFF2-40B4-BE49-F238E27FC236}">
                <a16:creationId xmlns:a16="http://schemas.microsoft.com/office/drawing/2014/main" id="{CD0824B8-FCDB-94AF-3B71-24C00C075D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A9D5FC8-24B4-E451-4127-C1BE03609D81}"/>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2104360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4E0BE6-8CC6-DEC7-0CCE-156D06C0D0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7150C29-22B4-B26D-5B1E-5D90E51C8E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CF1273B-6855-F14A-AC5C-70A8D982D4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A17E60-7920-4F87-5880-B3290B8DBDFD}"/>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6" name="フッター プレースホルダー 5">
            <a:extLst>
              <a:ext uri="{FF2B5EF4-FFF2-40B4-BE49-F238E27FC236}">
                <a16:creationId xmlns:a16="http://schemas.microsoft.com/office/drawing/2014/main" id="{B628E859-F201-CE34-4294-D24B56A769F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A05A798-773F-C5E9-D4BD-98803CB76D0C}"/>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2731576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ED8448-284B-2D94-2A18-F9CB55A2D58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491BF7F-EA5E-CFE1-E2AF-2772DCD34E3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E1C246-BE09-F98A-2219-9E9126623C74}"/>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5" name="フッター プレースホルダー 4">
            <a:extLst>
              <a:ext uri="{FF2B5EF4-FFF2-40B4-BE49-F238E27FC236}">
                <a16:creationId xmlns:a16="http://schemas.microsoft.com/office/drawing/2014/main" id="{04AFE277-3F22-4160-928A-9D72D7F18E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6951EB0-30FB-BC49-44D2-39ED4E2CB42C}"/>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3912395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A11D576-B217-089F-B09C-F1A5B2B48CF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C5249E-6CD5-3424-5243-8306C5040A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70F97D-9F42-5EEA-B9F6-7A0709FFE008}"/>
              </a:ext>
            </a:extLst>
          </p:cNvPr>
          <p:cNvSpPr>
            <a:spLocks noGrp="1"/>
          </p:cNvSpPr>
          <p:nvPr>
            <p:ph type="dt" sz="half" idx="10"/>
          </p:nvPr>
        </p:nvSpPr>
        <p:spPr/>
        <p:txBody>
          <a:bodyPr/>
          <a:lstStyle/>
          <a:p>
            <a:fld id="{C27C18EC-AC04-CB4B-B957-E842959B2930}" type="datetimeFigureOut">
              <a:rPr kumimoji="1" lang="ja-JP" altLang="en-US" smtClean="0"/>
              <a:t>2025/9/26</a:t>
            </a:fld>
            <a:endParaRPr kumimoji="1" lang="ja-JP" altLang="en-US"/>
          </a:p>
        </p:txBody>
      </p:sp>
      <p:sp>
        <p:nvSpPr>
          <p:cNvPr id="5" name="フッター プレースホルダー 4">
            <a:extLst>
              <a:ext uri="{FF2B5EF4-FFF2-40B4-BE49-F238E27FC236}">
                <a16:creationId xmlns:a16="http://schemas.microsoft.com/office/drawing/2014/main" id="{FB16FE3A-467E-7CE8-C21E-2BADD07239D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5115DF-D33C-D4E1-E294-F885EDD0A804}"/>
              </a:ext>
            </a:extLst>
          </p:cNvPr>
          <p:cNvSpPr>
            <a:spLocks noGrp="1"/>
          </p:cNvSpPr>
          <p:nvPr>
            <p:ph type="sldNum" sz="quarter" idx="12"/>
          </p:nvPr>
        </p:nvSpPr>
        <p:spPr/>
        <p:txBody>
          <a:body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1942044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209EE8F-C7A8-2D88-CE80-7D637BD52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512479-72E4-2A92-63C2-EFC8D95B45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371C51F-1692-13C0-E167-EA07FD9CD6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7C18EC-AC04-CB4B-B957-E842959B2930}" type="datetimeFigureOut">
              <a:rPr kumimoji="1" lang="ja-JP" altLang="en-US" smtClean="0"/>
              <a:t>2025/9/26</a:t>
            </a:fld>
            <a:endParaRPr kumimoji="1" lang="ja-JP" altLang="en-US"/>
          </a:p>
        </p:txBody>
      </p:sp>
      <p:sp>
        <p:nvSpPr>
          <p:cNvPr id="5" name="フッター プレースホルダー 4">
            <a:extLst>
              <a:ext uri="{FF2B5EF4-FFF2-40B4-BE49-F238E27FC236}">
                <a16:creationId xmlns:a16="http://schemas.microsoft.com/office/drawing/2014/main" id="{37457161-61D4-D839-ABD2-60D7619675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E09365E-F463-1904-2E32-9FF441B808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7277FD-3485-0848-8EC7-DEDEFB680F22}" type="slidenum">
              <a:rPr kumimoji="1" lang="ja-JP" altLang="en-US" smtClean="0"/>
              <a:t>‹#›</a:t>
            </a:fld>
            <a:endParaRPr kumimoji="1" lang="ja-JP" altLang="en-US"/>
          </a:p>
        </p:txBody>
      </p:sp>
    </p:spTree>
    <p:extLst>
      <p:ext uri="{BB962C8B-B14F-4D97-AF65-F5344CB8AC3E}">
        <p14:creationId xmlns:p14="http://schemas.microsoft.com/office/powerpoint/2010/main" val="4026314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8AA472A-C435-425D-96F1-D389AA2124C3}"/>
              </a:ext>
            </a:extLst>
          </p:cNvPr>
          <p:cNvSpPr txBox="1"/>
          <p:nvPr/>
        </p:nvSpPr>
        <p:spPr>
          <a:xfrm>
            <a:off x="337458" y="272143"/>
            <a:ext cx="7999306" cy="584775"/>
          </a:xfrm>
          <a:prstGeom prst="rect">
            <a:avLst/>
          </a:prstGeom>
          <a:noFill/>
        </p:spPr>
        <p:txBody>
          <a:bodyPr wrap="none" rtlCol="0">
            <a:spAutoFit/>
          </a:bodyPr>
          <a:lstStyle/>
          <a:p>
            <a:r>
              <a:rPr kumimoji="1" lang="ja-JP" altLang="en-US" sz="3200" b="1">
                <a:latin typeface="Noto Sans JP SemiBold" panose="020B0200000000000000" pitchFamily="34" charset="-128"/>
                <a:ea typeface="Noto Sans JP SemiBold" panose="020B0200000000000000" pitchFamily="34" charset="-128"/>
              </a:rPr>
              <a:t>起こした</a:t>
            </a:r>
            <a:r>
              <a:rPr lang="en-US" altLang="ja-JP" sz="3200" b="1" dirty="0">
                <a:latin typeface="Noto Sans JP SemiBold" panose="020B0200000000000000" pitchFamily="34" charset="-128"/>
                <a:ea typeface="Noto Sans JP SemiBold" panose="020B0200000000000000" pitchFamily="34" charset="-128"/>
              </a:rPr>
              <a:t>or</a:t>
            </a:r>
            <a:r>
              <a:rPr kumimoji="1" lang="ja-JP" altLang="en-US" sz="3200" b="1">
                <a:latin typeface="Noto Sans JP SemiBold" panose="020B0200000000000000" pitchFamily="34" charset="-128"/>
                <a:ea typeface="Noto Sans JP SemiBold" panose="020B0200000000000000" pitchFamily="34" charset="-128"/>
              </a:rPr>
              <a:t>今後起こしそうなインシデント</a:t>
            </a:r>
          </a:p>
        </p:txBody>
      </p:sp>
      <p:sp>
        <p:nvSpPr>
          <p:cNvPr id="5" name="テキスト ボックス 4">
            <a:extLst>
              <a:ext uri="{FF2B5EF4-FFF2-40B4-BE49-F238E27FC236}">
                <a16:creationId xmlns:a16="http://schemas.microsoft.com/office/drawing/2014/main" id="{6505BAAD-60D5-1518-360C-099C67EC7EC1}"/>
              </a:ext>
            </a:extLst>
          </p:cNvPr>
          <p:cNvSpPr txBox="1"/>
          <p:nvPr/>
        </p:nvSpPr>
        <p:spPr>
          <a:xfrm>
            <a:off x="337458" y="856918"/>
            <a:ext cx="1859805" cy="400110"/>
          </a:xfrm>
          <a:prstGeom prst="rect">
            <a:avLst/>
          </a:prstGeom>
          <a:noFill/>
        </p:spPr>
        <p:txBody>
          <a:bodyPr wrap="none" rtlCol="0">
            <a:spAutoFit/>
          </a:bodyPr>
          <a:lstStyle/>
          <a:p>
            <a:r>
              <a:rPr kumimoji="1" lang="en-US" altLang="ja-JP" sz="2000" dirty="0">
                <a:latin typeface="Noto Sans JP Medium" panose="020B0200000000000000" pitchFamily="34" charset="-128"/>
                <a:ea typeface="Noto Sans JP Medium" panose="020B0200000000000000" pitchFamily="34" charset="-128"/>
              </a:rPr>
              <a:t>5E25 </a:t>
            </a:r>
            <a:r>
              <a:rPr kumimoji="1" lang="ja-JP" altLang="en-US" sz="2000">
                <a:latin typeface="Noto Sans JP Medium" panose="020B0200000000000000" pitchFamily="34" charset="-128"/>
                <a:ea typeface="Noto Sans JP Medium" panose="020B0200000000000000" pitchFamily="34" charset="-128"/>
              </a:rPr>
              <a:t>平田爽馬</a:t>
            </a:r>
          </a:p>
        </p:txBody>
      </p:sp>
      <p:sp>
        <p:nvSpPr>
          <p:cNvPr id="6" name="テキスト ボックス 5">
            <a:extLst>
              <a:ext uri="{FF2B5EF4-FFF2-40B4-BE49-F238E27FC236}">
                <a16:creationId xmlns:a16="http://schemas.microsoft.com/office/drawing/2014/main" id="{41C87AA9-26AC-1CD8-0E71-F47A7135F7A5}"/>
              </a:ext>
            </a:extLst>
          </p:cNvPr>
          <p:cNvSpPr txBox="1"/>
          <p:nvPr/>
        </p:nvSpPr>
        <p:spPr>
          <a:xfrm>
            <a:off x="337458" y="1257028"/>
            <a:ext cx="3935693" cy="461665"/>
          </a:xfrm>
          <a:prstGeom prst="rect">
            <a:avLst/>
          </a:prstGeom>
          <a:noFill/>
        </p:spPr>
        <p:txBody>
          <a:bodyPr wrap="none" rtlCol="0">
            <a:spAutoFit/>
          </a:bodyPr>
          <a:lstStyle/>
          <a:p>
            <a:r>
              <a:rPr kumimoji="1" lang="en-US" altLang="ja-JP" sz="2400" dirty="0">
                <a:latin typeface="Noto Sans JP Medium" panose="020B0200000000000000" pitchFamily="34" charset="-128"/>
                <a:ea typeface="Noto Sans JP Medium" panose="020B0200000000000000" pitchFamily="34" charset="-128"/>
              </a:rPr>
              <a:t>API</a:t>
            </a:r>
            <a:r>
              <a:rPr kumimoji="1" lang="ja-JP" altLang="en-US" sz="2400">
                <a:latin typeface="Noto Sans JP Medium" panose="020B0200000000000000" pitchFamily="34" charset="-128"/>
                <a:ea typeface="Noto Sans JP Medium" panose="020B0200000000000000" pitchFamily="34" charset="-128"/>
              </a:rPr>
              <a:t>全消し</a:t>
            </a:r>
            <a:r>
              <a:rPr kumimoji="1" lang="en-US" altLang="ja-JP" sz="2400" dirty="0">
                <a:latin typeface="Noto Sans JP Medium" panose="020B0200000000000000" pitchFamily="34" charset="-128"/>
                <a:ea typeface="Noto Sans JP Medium" panose="020B0200000000000000" pitchFamily="34" charset="-128"/>
              </a:rPr>
              <a:t>[</a:t>
            </a:r>
            <a:r>
              <a:rPr kumimoji="1" lang="ja-JP" altLang="en-US" sz="2400">
                <a:latin typeface="Noto Sans JP Medium" panose="020B0200000000000000" pitchFamily="34" charset="-128"/>
                <a:ea typeface="Noto Sans JP Medium" panose="020B0200000000000000" pitchFamily="34" charset="-128"/>
              </a:rPr>
              <a:t>やってしまった</a:t>
            </a:r>
            <a:r>
              <a:rPr kumimoji="1" lang="en-US" altLang="ja-JP" sz="2400" dirty="0">
                <a:latin typeface="Noto Sans JP Medium" panose="020B0200000000000000" pitchFamily="34" charset="-128"/>
                <a:ea typeface="Noto Sans JP Medium" panose="020B0200000000000000" pitchFamily="34" charset="-128"/>
              </a:rPr>
              <a:t>]</a:t>
            </a:r>
            <a:endParaRPr kumimoji="1" lang="ja-JP" altLang="en-US" sz="2400">
              <a:latin typeface="Noto Sans JP Medium" panose="020B0200000000000000" pitchFamily="34" charset="-128"/>
              <a:ea typeface="Noto Sans JP Medium" panose="020B0200000000000000" pitchFamily="34" charset="-128"/>
            </a:endParaRPr>
          </a:p>
        </p:txBody>
      </p:sp>
      <p:sp>
        <p:nvSpPr>
          <p:cNvPr id="7" name="テキスト ボックス 6">
            <a:extLst>
              <a:ext uri="{FF2B5EF4-FFF2-40B4-BE49-F238E27FC236}">
                <a16:creationId xmlns:a16="http://schemas.microsoft.com/office/drawing/2014/main" id="{E6A5285D-C45F-6258-B671-D028605D9BDC}"/>
              </a:ext>
            </a:extLst>
          </p:cNvPr>
          <p:cNvSpPr txBox="1"/>
          <p:nvPr/>
        </p:nvSpPr>
        <p:spPr>
          <a:xfrm>
            <a:off x="337458" y="4172291"/>
            <a:ext cx="5311069" cy="461665"/>
          </a:xfrm>
          <a:prstGeom prst="rect">
            <a:avLst/>
          </a:prstGeom>
          <a:noFill/>
        </p:spPr>
        <p:txBody>
          <a:bodyPr wrap="none" rtlCol="0">
            <a:spAutoFit/>
          </a:bodyPr>
          <a:lstStyle/>
          <a:p>
            <a:r>
              <a:rPr kumimoji="1" lang="ja-JP" altLang="en-US" sz="2400">
                <a:latin typeface="Noto Sans JP Medium" panose="020B0200000000000000" pitchFamily="34" charset="-128"/>
                <a:ea typeface="Noto Sans JP Medium" panose="020B0200000000000000" pitchFamily="34" charset="-128"/>
              </a:rPr>
              <a:t>公開範囲を誤ってしまう</a:t>
            </a:r>
            <a:r>
              <a:rPr kumimoji="1" lang="en-US" altLang="ja-JP" sz="2400" dirty="0">
                <a:latin typeface="Noto Sans JP Medium" panose="020B0200000000000000" pitchFamily="34" charset="-128"/>
                <a:ea typeface="Noto Sans JP Medium" panose="020B0200000000000000" pitchFamily="34" charset="-128"/>
              </a:rPr>
              <a:t>[</a:t>
            </a:r>
            <a:r>
              <a:rPr kumimoji="1" lang="ja-JP" altLang="en-US" sz="2400">
                <a:latin typeface="Noto Sans JP Medium" panose="020B0200000000000000" pitchFamily="34" charset="-128"/>
                <a:ea typeface="Noto Sans JP Medium" panose="020B0200000000000000" pitchFamily="34" charset="-128"/>
              </a:rPr>
              <a:t>起こしそう</a:t>
            </a:r>
            <a:r>
              <a:rPr kumimoji="1" lang="en-US" altLang="ja-JP" sz="2400" dirty="0">
                <a:latin typeface="Noto Sans JP Medium" panose="020B0200000000000000" pitchFamily="34" charset="-128"/>
                <a:ea typeface="Noto Sans JP Medium" panose="020B0200000000000000" pitchFamily="34" charset="-128"/>
              </a:rPr>
              <a:t>]</a:t>
            </a:r>
            <a:endParaRPr kumimoji="1" lang="ja-JP" altLang="en-US" sz="2400">
              <a:latin typeface="Noto Sans JP Medium" panose="020B0200000000000000" pitchFamily="34" charset="-128"/>
              <a:ea typeface="Noto Sans JP Medium" panose="020B0200000000000000" pitchFamily="34" charset="-128"/>
            </a:endParaRPr>
          </a:p>
        </p:txBody>
      </p:sp>
      <p:sp>
        <p:nvSpPr>
          <p:cNvPr id="8" name="テキスト ボックス 7">
            <a:extLst>
              <a:ext uri="{FF2B5EF4-FFF2-40B4-BE49-F238E27FC236}">
                <a16:creationId xmlns:a16="http://schemas.microsoft.com/office/drawing/2014/main" id="{4809DB7C-A92A-D6C2-1005-123A3EB56BFE}"/>
              </a:ext>
            </a:extLst>
          </p:cNvPr>
          <p:cNvSpPr txBox="1"/>
          <p:nvPr/>
        </p:nvSpPr>
        <p:spPr>
          <a:xfrm>
            <a:off x="337458" y="1718693"/>
            <a:ext cx="10673115" cy="2246769"/>
          </a:xfrm>
          <a:prstGeom prst="rect">
            <a:avLst/>
          </a:prstGeom>
          <a:noFill/>
        </p:spPr>
        <p:txBody>
          <a:bodyPr wrap="none" rtlCol="0">
            <a:spAutoFit/>
          </a:bodyPr>
          <a:lstStyle/>
          <a:p>
            <a:r>
              <a:rPr kumimoji="1" lang="ja-JP" altLang="en-US" sz="2000">
                <a:latin typeface="Noto Sans JP" panose="020B0200000000000000" pitchFamily="34" charset="-128"/>
                <a:ea typeface="Noto Sans JP" panose="020B0200000000000000" pitchFamily="34" charset="-128"/>
              </a:rPr>
              <a:t>某長期インターン</a:t>
            </a:r>
            <a:r>
              <a:rPr kumimoji="1" lang="en-US" altLang="ja-JP" sz="2000" dirty="0">
                <a:latin typeface="Noto Sans JP" panose="020B0200000000000000" pitchFamily="34" charset="-128"/>
                <a:ea typeface="Noto Sans JP" panose="020B0200000000000000" pitchFamily="34" charset="-128"/>
              </a:rPr>
              <a:t>(</a:t>
            </a:r>
            <a:r>
              <a:rPr kumimoji="1" lang="ja-JP" altLang="en-US" sz="2000">
                <a:latin typeface="Noto Sans JP" panose="020B0200000000000000" pitchFamily="34" charset="-128"/>
                <a:ea typeface="Noto Sans JP" panose="020B0200000000000000" pitchFamily="34" charset="-128"/>
              </a:rPr>
              <a:t>アルバイト</a:t>
            </a:r>
            <a:r>
              <a:rPr kumimoji="1" lang="en-US" altLang="ja-JP" sz="2000" dirty="0">
                <a:latin typeface="Noto Sans JP" panose="020B0200000000000000" pitchFamily="34" charset="-128"/>
                <a:ea typeface="Noto Sans JP" panose="020B0200000000000000" pitchFamily="34" charset="-128"/>
              </a:rPr>
              <a:t>)</a:t>
            </a:r>
            <a:r>
              <a:rPr kumimoji="1" lang="ja-JP" altLang="en-US" sz="2000">
                <a:latin typeface="Noto Sans JP" panose="020B0200000000000000" pitchFamily="34" charset="-128"/>
                <a:ea typeface="Noto Sans JP" panose="020B0200000000000000" pitchFamily="34" charset="-128"/>
              </a:rPr>
              <a:t>での作業中</a:t>
            </a:r>
            <a:endParaRPr kumimoji="1" lang="en-US" altLang="ja-JP" sz="2000" dirty="0">
              <a:latin typeface="Noto Sans JP" panose="020B0200000000000000" pitchFamily="34" charset="-128"/>
              <a:ea typeface="Noto Sans JP" panose="020B0200000000000000" pitchFamily="34" charset="-128"/>
            </a:endParaRPr>
          </a:p>
          <a:p>
            <a:r>
              <a:rPr kumimoji="1" lang="ja-JP" altLang="en-US" sz="2000">
                <a:latin typeface="Noto Sans JP" panose="020B0200000000000000" pitchFamily="34" charset="-128"/>
                <a:ea typeface="Noto Sans JP" panose="020B0200000000000000" pitchFamily="34" charset="-128"/>
              </a:rPr>
              <a:t>開発しているサービスにおいて使用している</a:t>
            </a:r>
            <a:r>
              <a:rPr kumimoji="1" lang="en-US" altLang="ja-JP" sz="2000" dirty="0">
                <a:latin typeface="Noto Sans JP" panose="020B0200000000000000" pitchFamily="34" charset="-128"/>
                <a:ea typeface="Noto Sans JP" panose="020B0200000000000000" pitchFamily="34" charset="-128"/>
              </a:rPr>
              <a:t>AWS</a:t>
            </a:r>
            <a:r>
              <a:rPr kumimoji="1" lang="ja-JP" altLang="en-US" sz="2000">
                <a:latin typeface="Noto Sans JP" panose="020B0200000000000000" pitchFamily="34" charset="-128"/>
                <a:ea typeface="Noto Sans JP" panose="020B0200000000000000" pitchFamily="34" charset="-128"/>
              </a:rPr>
              <a:t>の</a:t>
            </a:r>
            <a:r>
              <a:rPr kumimoji="1" lang="en-US" altLang="ja-JP" sz="2000" dirty="0">
                <a:latin typeface="Noto Sans JP" panose="020B0200000000000000" pitchFamily="34" charset="-128"/>
                <a:ea typeface="Noto Sans JP" panose="020B0200000000000000" pitchFamily="34" charset="-128"/>
              </a:rPr>
              <a:t>API Gateway</a:t>
            </a:r>
            <a:r>
              <a:rPr kumimoji="1" lang="ja-JP" altLang="en-US" sz="2000">
                <a:latin typeface="Noto Sans JP" panose="020B0200000000000000" pitchFamily="34" charset="-128"/>
                <a:ea typeface="Noto Sans JP" panose="020B0200000000000000" pitchFamily="34" charset="-128"/>
              </a:rPr>
              <a:t>で作成した</a:t>
            </a:r>
            <a:r>
              <a:rPr kumimoji="1" lang="en-US" altLang="ja-JP" sz="2000" dirty="0">
                <a:latin typeface="Noto Sans JP" panose="020B0200000000000000" pitchFamily="34" charset="-128"/>
                <a:ea typeface="Noto Sans JP" panose="020B0200000000000000" pitchFamily="34" charset="-128"/>
              </a:rPr>
              <a:t>REST API</a:t>
            </a:r>
            <a:r>
              <a:rPr kumimoji="1" lang="ja-JP" altLang="en-US" sz="2000">
                <a:latin typeface="Noto Sans JP" panose="020B0200000000000000" pitchFamily="34" charset="-128"/>
                <a:ea typeface="Noto Sans JP" panose="020B0200000000000000" pitchFamily="34" charset="-128"/>
              </a:rPr>
              <a:t>を全て</a:t>
            </a:r>
            <a:br>
              <a:rPr kumimoji="1" lang="en-US" altLang="ja-JP" sz="2000" dirty="0">
                <a:latin typeface="Noto Sans JP" panose="020B0200000000000000" pitchFamily="34" charset="-128"/>
                <a:ea typeface="Noto Sans JP" panose="020B0200000000000000" pitchFamily="34" charset="-128"/>
              </a:rPr>
            </a:br>
            <a:r>
              <a:rPr kumimoji="1" lang="ja-JP" altLang="en-US" sz="2000">
                <a:latin typeface="Noto Sans JP" panose="020B0200000000000000" pitchFamily="34" charset="-128"/>
                <a:ea typeface="Noto Sans JP" panose="020B0200000000000000" pitchFamily="34" charset="-128"/>
              </a:rPr>
              <a:t>消してしまった．</a:t>
            </a:r>
            <a:endParaRPr kumimoji="1" lang="en-US" altLang="ja-JP" sz="2000" dirty="0">
              <a:latin typeface="Noto Sans JP" panose="020B0200000000000000" pitchFamily="34" charset="-128"/>
              <a:ea typeface="Noto Sans JP" panose="020B0200000000000000" pitchFamily="34" charset="-128"/>
            </a:endParaRPr>
          </a:p>
          <a:p>
            <a:r>
              <a:rPr lang="en-US" altLang="ja-JP" sz="2000" dirty="0">
                <a:latin typeface="Noto Sans JP" panose="020B0200000000000000" pitchFamily="34" charset="-128"/>
                <a:ea typeface="Noto Sans JP" panose="020B0200000000000000" pitchFamily="34" charset="-128"/>
              </a:rPr>
              <a:t>→</a:t>
            </a:r>
            <a:r>
              <a:rPr lang="ja-JP" altLang="en-US" sz="2000">
                <a:latin typeface="Noto Sans JP" panose="020B0200000000000000" pitchFamily="34" charset="-128"/>
                <a:ea typeface="Noto Sans JP" panose="020B0200000000000000" pitchFamily="34" charset="-128"/>
              </a:rPr>
              <a:t>本来は，入れ子になっている</a:t>
            </a:r>
            <a:r>
              <a:rPr lang="en-US" altLang="ja-JP" sz="2000" dirty="0">
                <a:latin typeface="Noto Sans JP" panose="020B0200000000000000" pitchFamily="34" charset="-128"/>
                <a:ea typeface="Noto Sans JP" panose="020B0200000000000000" pitchFamily="34" charset="-128"/>
              </a:rPr>
              <a:t>API</a:t>
            </a:r>
            <a:r>
              <a:rPr lang="ja-JP" altLang="en-US" sz="2000">
                <a:latin typeface="Noto Sans JP" panose="020B0200000000000000" pitchFamily="34" charset="-128"/>
                <a:ea typeface="Noto Sans JP" panose="020B0200000000000000" pitchFamily="34" charset="-128"/>
              </a:rPr>
              <a:t>のうちの一つのみを削除したかったが，誤って全削除</a:t>
            </a:r>
            <a:endParaRPr lang="en-US" altLang="ja-JP" sz="2000" dirty="0">
              <a:latin typeface="Noto Sans JP" panose="020B0200000000000000" pitchFamily="34" charset="-128"/>
              <a:ea typeface="Noto Sans JP" panose="020B0200000000000000" pitchFamily="34" charset="-128"/>
            </a:endParaRPr>
          </a:p>
          <a:p>
            <a:r>
              <a:rPr lang="en-US" altLang="ja-JP" sz="2000" dirty="0">
                <a:latin typeface="Noto Sans JP" panose="020B0200000000000000" pitchFamily="34" charset="-128"/>
                <a:ea typeface="Noto Sans JP" panose="020B0200000000000000" pitchFamily="34" charset="-128"/>
              </a:rPr>
              <a:t>→</a:t>
            </a:r>
            <a:r>
              <a:rPr lang="ja-JP" altLang="en-US" sz="2000">
                <a:latin typeface="Noto Sans JP" panose="020B0200000000000000" pitchFamily="34" charset="-128"/>
                <a:ea typeface="Noto Sans JP" panose="020B0200000000000000" pitchFamily="34" charset="-128"/>
              </a:rPr>
              <a:t>削除前に何度も警告されていたにもかかわらず削除してしまった．</a:t>
            </a:r>
            <a:endParaRPr lang="en-US" altLang="ja-JP" sz="2000" dirty="0">
              <a:latin typeface="Noto Sans JP" panose="020B0200000000000000" pitchFamily="34" charset="-128"/>
              <a:ea typeface="Noto Sans JP" panose="020B0200000000000000" pitchFamily="34" charset="-128"/>
            </a:endParaRPr>
          </a:p>
          <a:p>
            <a:r>
              <a:rPr kumimoji="1" lang="ja-JP" altLang="en-US" sz="2000">
                <a:latin typeface="Noto Sans JP" panose="020B0200000000000000" pitchFamily="34" charset="-128"/>
                <a:ea typeface="Noto Sans JP" panose="020B0200000000000000" pitchFamily="34" charset="-128"/>
              </a:rPr>
              <a:t>◎削除前にどこを消そうとしているか何度も確認する．</a:t>
            </a:r>
            <a:br>
              <a:rPr kumimoji="1" lang="en-US" altLang="ja-JP" sz="2000" dirty="0">
                <a:latin typeface="Noto Sans JP" panose="020B0200000000000000" pitchFamily="34" charset="-128"/>
                <a:ea typeface="Noto Sans JP" panose="020B0200000000000000" pitchFamily="34" charset="-128"/>
              </a:rPr>
            </a:br>
            <a:r>
              <a:rPr kumimoji="1" lang="ja-JP" altLang="en-US" sz="2000">
                <a:latin typeface="Noto Sans JP" panose="020B0200000000000000" pitchFamily="34" charset="-128"/>
                <a:ea typeface="Noto Sans JP" panose="020B0200000000000000" pitchFamily="34" charset="-128"/>
              </a:rPr>
              <a:t>　</a:t>
            </a:r>
            <a:r>
              <a:rPr kumimoji="1" lang="en-US" altLang="ja-JP" sz="2000" dirty="0">
                <a:latin typeface="Noto Sans JP" panose="020B0200000000000000" pitchFamily="34" charset="-128"/>
                <a:ea typeface="Noto Sans JP" panose="020B0200000000000000" pitchFamily="34" charset="-128"/>
              </a:rPr>
              <a:t>(</a:t>
            </a:r>
            <a:r>
              <a:rPr kumimoji="1" lang="ja-JP" altLang="en-US" sz="2000">
                <a:latin typeface="Noto Sans JP" panose="020B0200000000000000" pitchFamily="34" charset="-128"/>
                <a:ea typeface="Noto Sans JP" panose="020B0200000000000000" pitchFamily="34" charset="-128"/>
              </a:rPr>
              <a:t>幸い，</a:t>
            </a:r>
            <a:r>
              <a:rPr kumimoji="1" lang="en-US" altLang="ja-JP" sz="2000" dirty="0">
                <a:latin typeface="Noto Sans JP" panose="020B0200000000000000" pitchFamily="34" charset="-128"/>
                <a:ea typeface="Noto Sans JP" panose="020B0200000000000000" pitchFamily="34" charset="-128"/>
              </a:rPr>
              <a:t>API</a:t>
            </a:r>
            <a:r>
              <a:rPr kumimoji="1" lang="ja-JP" altLang="en-US" sz="2000">
                <a:latin typeface="Noto Sans JP" panose="020B0200000000000000" pitchFamily="34" charset="-128"/>
                <a:ea typeface="Noto Sans JP" panose="020B0200000000000000" pitchFamily="34" charset="-128"/>
              </a:rPr>
              <a:t>の構成をスクリーンショットしていたのでことなきを得ました</a:t>
            </a:r>
            <a:r>
              <a:rPr lang="en-US" altLang="ja-JP" sz="2000" dirty="0">
                <a:latin typeface="Noto Sans JP" panose="020B0200000000000000" pitchFamily="34" charset="-128"/>
                <a:ea typeface="Noto Sans JP" panose="020B0200000000000000" pitchFamily="34" charset="-128"/>
              </a:rPr>
              <a:t>…</a:t>
            </a:r>
            <a:r>
              <a:rPr kumimoji="1" lang="en-US" altLang="ja-JP" sz="2000" dirty="0">
                <a:latin typeface="Noto Sans JP" panose="020B0200000000000000" pitchFamily="34" charset="-128"/>
                <a:ea typeface="Noto Sans JP" panose="020B0200000000000000" pitchFamily="34" charset="-128"/>
              </a:rPr>
              <a:t>)</a:t>
            </a:r>
          </a:p>
        </p:txBody>
      </p:sp>
      <p:sp>
        <p:nvSpPr>
          <p:cNvPr id="9" name="テキスト ボックス 8">
            <a:extLst>
              <a:ext uri="{FF2B5EF4-FFF2-40B4-BE49-F238E27FC236}">
                <a16:creationId xmlns:a16="http://schemas.microsoft.com/office/drawing/2014/main" id="{70336BE9-7A6E-042A-6969-23638B142762}"/>
              </a:ext>
            </a:extLst>
          </p:cNvPr>
          <p:cNvSpPr txBox="1"/>
          <p:nvPr/>
        </p:nvSpPr>
        <p:spPr>
          <a:xfrm>
            <a:off x="337458" y="4633956"/>
            <a:ext cx="11513088" cy="1631216"/>
          </a:xfrm>
          <a:prstGeom prst="rect">
            <a:avLst/>
          </a:prstGeom>
          <a:noFill/>
        </p:spPr>
        <p:txBody>
          <a:bodyPr wrap="none" rtlCol="0">
            <a:spAutoFit/>
          </a:bodyPr>
          <a:lstStyle/>
          <a:p>
            <a:r>
              <a:rPr lang="ja-JP" altLang="en-US" sz="2000">
                <a:latin typeface="Noto Sans JP" panose="020B0200000000000000" pitchFamily="34" charset="-128"/>
                <a:ea typeface="Noto Sans JP" panose="020B0200000000000000" pitchFamily="34" charset="-128"/>
              </a:rPr>
              <a:t>ウェブサイトや</a:t>
            </a:r>
            <a:r>
              <a:rPr lang="en-US" altLang="ja-JP" sz="2000" dirty="0">
                <a:latin typeface="Noto Sans JP" panose="020B0200000000000000" pitchFamily="34" charset="-128"/>
                <a:ea typeface="Noto Sans JP" panose="020B0200000000000000" pitchFamily="34" charset="-128"/>
              </a:rPr>
              <a:t>GitHub</a:t>
            </a:r>
            <a:r>
              <a:rPr lang="ja-JP" altLang="en-US" sz="2000">
                <a:latin typeface="Noto Sans JP" panose="020B0200000000000000" pitchFamily="34" charset="-128"/>
                <a:ea typeface="Noto Sans JP" panose="020B0200000000000000" pitchFamily="34" charset="-128"/>
              </a:rPr>
              <a:t>リポジトリ，</a:t>
            </a:r>
            <a:r>
              <a:rPr lang="en-US" altLang="ja-JP" sz="2000" dirty="0">
                <a:latin typeface="Noto Sans JP" panose="020B0200000000000000" pitchFamily="34" charset="-128"/>
                <a:ea typeface="Noto Sans JP" panose="020B0200000000000000" pitchFamily="34" charset="-128"/>
              </a:rPr>
              <a:t>API</a:t>
            </a:r>
            <a:r>
              <a:rPr lang="ja-JP" altLang="en-US" sz="2000">
                <a:latin typeface="Noto Sans JP" panose="020B0200000000000000" pitchFamily="34" charset="-128"/>
                <a:ea typeface="Noto Sans JP" panose="020B0200000000000000" pitchFamily="34" charset="-128"/>
              </a:rPr>
              <a:t>キーなどにおいて</a:t>
            </a:r>
            <a:br>
              <a:rPr lang="en-US" altLang="ja-JP" sz="2000" dirty="0">
                <a:latin typeface="Noto Sans JP" panose="020B0200000000000000" pitchFamily="34" charset="-128"/>
                <a:ea typeface="Noto Sans JP" panose="020B0200000000000000" pitchFamily="34" charset="-128"/>
              </a:rPr>
            </a:br>
            <a:r>
              <a:rPr lang="ja-JP" altLang="en-US" sz="2000">
                <a:latin typeface="Noto Sans JP" panose="020B0200000000000000" pitchFamily="34" charset="-128"/>
                <a:ea typeface="Noto Sans JP" panose="020B0200000000000000" pitchFamily="34" charset="-128"/>
              </a:rPr>
              <a:t>内部のみで公開しておきたい情報を誤って全世界に公開してしまう．</a:t>
            </a:r>
            <a:endParaRPr lang="en-US" altLang="ja-JP" sz="2000" dirty="0">
              <a:latin typeface="Noto Sans JP" panose="020B0200000000000000" pitchFamily="34" charset="-128"/>
              <a:ea typeface="Noto Sans JP" panose="020B0200000000000000" pitchFamily="34" charset="-128"/>
            </a:endParaRPr>
          </a:p>
          <a:p>
            <a:r>
              <a:rPr lang="ja-JP" altLang="en-US" sz="2000">
                <a:latin typeface="Noto Sans JP" panose="020B0200000000000000" pitchFamily="34" charset="-128"/>
                <a:ea typeface="Noto Sans JP" panose="020B0200000000000000" pitchFamily="34" charset="-128"/>
              </a:rPr>
              <a:t>◎</a:t>
            </a:r>
            <a:r>
              <a:rPr kumimoji="1" lang="ja-JP" altLang="en-US" sz="2000">
                <a:latin typeface="Noto Sans JP" panose="020B0200000000000000" pitchFamily="34" charset="-128"/>
                <a:ea typeface="Noto Sans JP" panose="020B0200000000000000" pitchFamily="34" charset="-128"/>
              </a:rPr>
              <a:t>公開前に必ず確認すること．</a:t>
            </a:r>
            <a:br>
              <a:rPr kumimoji="1" lang="en-US" altLang="ja-JP" sz="2000" dirty="0">
                <a:latin typeface="Noto Sans JP" panose="020B0200000000000000" pitchFamily="34" charset="-128"/>
                <a:ea typeface="Noto Sans JP" panose="020B0200000000000000" pitchFamily="34" charset="-128"/>
              </a:rPr>
            </a:br>
            <a:r>
              <a:rPr kumimoji="1" lang="ja-JP" altLang="en-US" sz="2000">
                <a:latin typeface="Noto Sans JP" panose="020B0200000000000000" pitchFamily="34" charset="-128"/>
                <a:ea typeface="Noto Sans JP" panose="020B0200000000000000" pitchFamily="34" charset="-128"/>
              </a:rPr>
              <a:t>◎安易にボタンを押さない．</a:t>
            </a:r>
            <a:endParaRPr kumimoji="1" lang="en-US" altLang="ja-JP" sz="2000" dirty="0">
              <a:latin typeface="Noto Sans JP" panose="020B0200000000000000" pitchFamily="34" charset="-128"/>
              <a:ea typeface="Noto Sans JP" panose="020B0200000000000000" pitchFamily="34" charset="-128"/>
            </a:endParaRPr>
          </a:p>
          <a:p>
            <a:r>
              <a:rPr lang="ja-JP" altLang="en-US" sz="2000">
                <a:latin typeface="Noto Sans JP" panose="020B0200000000000000" pitchFamily="34" charset="-128"/>
                <a:ea typeface="Noto Sans JP" panose="020B0200000000000000" pitchFamily="34" charset="-128"/>
              </a:rPr>
              <a:t>◎もし間違って公開してしまった場合は即座に取り消す</a:t>
            </a:r>
            <a:r>
              <a:rPr lang="en-US" altLang="ja-JP" sz="2000" dirty="0">
                <a:latin typeface="Noto Sans JP" panose="020B0200000000000000" pitchFamily="34" charset="-128"/>
                <a:ea typeface="Noto Sans JP" panose="020B0200000000000000" pitchFamily="34" charset="-128"/>
              </a:rPr>
              <a:t>(</a:t>
            </a:r>
            <a:r>
              <a:rPr lang="ja-JP" altLang="en-US" sz="2000">
                <a:latin typeface="Noto Sans JP" panose="020B0200000000000000" pitchFamily="34" charset="-128"/>
                <a:ea typeface="Noto Sans JP" panose="020B0200000000000000" pitchFamily="34" charset="-128"/>
              </a:rPr>
              <a:t>発見を早めるために公開後に必ず確認</a:t>
            </a:r>
            <a:r>
              <a:rPr lang="en-US" altLang="ja-JP" sz="2000" dirty="0">
                <a:latin typeface="Noto Sans JP" panose="020B0200000000000000" pitchFamily="34" charset="-128"/>
                <a:ea typeface="Noto Sans JP" panose="020B0200000000000000" pitchFamily="34" charset="-128"/>
              </a:rPr>
              <a:t>)</a:t>
            </a:r>
            <a:endParaRPr kumimoji="1" lang="en-US" altLang="ja-JP" sz="2000" dirty="0">
              <a:latin typeface="Noto Sans JP" panose="020B0200000000000000" pitchFamily="34" charset="-128"/>
              <a:ea typeface="Noto Sans JP" panose="020B0200000000000000" pitchFamily="34" charset="-128"/>
            </a:endParaRPr>
          </a:p>
        </p:txBody>
      </p:sp>
    </p:spTree>
    <p:extLst>
      <p:ext uri="{BB962C8B-B14F-4D97-AF65-F5344CB8AC3E}">
        <p14:creationId xmlns:p14="http://schemas.microsoft.com/office/powerpoint/2010/main" val="243113938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188</Words>
  <Application>Microsoft Macintosh PowerPoint</Application>
  <PresentationFormat>ワイド画面</PresentationFormat>
  <Paragraphs>12</Paragraphs>
  <Slides>1</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vt:i4>
      </vt:variant>
    </vt:vector>
  </HeadingPairs>
  <TitlesOfParts>
    <vt:vector size="8" baseType="lpstr">
      <vt:lpstr>Noto Sans JP</vt:lpstr>
      <vt:lpstr>Noto Sans JP Medium</vt:lpstr>
      <vt:lpstr>Noto Sans JP SemiBold</vt:lpstr>
      <vt:lpstr>游ゴシック</vt:lpstr>
      <vt:lpstr>游ゴシック Light</vt:lpstr>
      <vt:lpstr>Arial</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平田 爽馬_舞鶴E学生</dc:creator>
  <cp:lastModifiedBy>平田 爽馬_舞鶴E学生</cp:lastModifiedBy>
  <cp:revision>1</cp:revision>
  <dcterms:created xsi:type="dcterms:W3CDTF">2025-09-26T01:50:18Z</dcterms:created>
  <dcterms:modified xsi:type="dcterms:W3CDTF">2025-09-26T02:16:38Z</dcterms:modified>
</cp:coreProperties>
</file>